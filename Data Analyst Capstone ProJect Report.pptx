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26.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5"/>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12192000" cy="6858000"/>
  <p:notesSz cx="6858000" cy="1857375"/>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C3"/>
    <a:srgbClr val="007D79"/>
    <a:srgbClr val="D02670"/>
    <a:srgbClr val="231F20"/>
    <a:srgbClr val="33B1FF"/>
    <a:srgbClr val="262626"/>
    <a:srgbClr val="525252"/>
    <a:srgbClr val="BE95FF"/>
    <a:srgbClr val="FFFFFF"/>
    <a:srgbClr val="C1C7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D4C141-4769-B802-9325-D8E9BE99FABD}" v="221" dt="2026-06-10T18:30:38.546"/>
    <p1510:client id="{31A66397-26C0-496B-9984-F7371F6F3F05}" v="19" dt="2026-06-10T09:44:02.900"/>
    <p1510:client id="{482A7E36-343A-4FE6-A092-5138389A8212}" v="211" dt="2026-06-10T13:42:35.363"/>
    <p1510:client id="{69844974-9C88-438D-9415-13F131AC3087}" v="65" dt="2026-06-10T11:17:08.596"/>
    <p1510:client id="{7C5A2736-C1FD-69A6-F5C8-250A0BE6D9A4}" v="11" dt="2026-06-12T06:33:32.844"/>
    <p1510:client id="{889735FF-CB2B-BB11-02EA-4E61DEBC6AE7}" v="712" dt="2026-06-11T06:38:31.774"/>
    <p1510:client id="{9B7EDCB7-74A5-4E24-BE38-9699ADC29EC4}" v="12" dt="2026-06-10T10:28:19.537"/>
    <p1510:client id="{A854B8AF-808C-4BE0-BFE0-261019655DE1}" v="107" dt="2026-06-10T08:43:04.466"/>
    <p1510:client id="{FF5BE932-006E-312B-F3B1-6EC65190767A}" v="6" dt="2026-06-12T06:57:38.266"/>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13" autoAdjust="0"/>
    <p:restoredTop sz="91480" autoAdjust="0"/>
  </p:normalViewPr>
  <p:slideViewPr>
    <p:cSldViewPr snapToGrid="0">
      <p:cViewPr varScale="1">
        <p:scale>
          <a:sx n="79" d="100"/>
          <a:sy n="79" d="100"/>
        </p:scale>
        <p:origin x="43" y="667"/>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CA3A47509FB5C757/Book%2025.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CA3A47509FB5C757/Book%2025.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Number of Jobs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Sheet1!$A$2:$A$14</c:f>
              <c:strCache>
                <c:ptCount val="13"/>
                <c:pt idx="0">
                  <c:v>Washington DC</c:v>
                </c:pt>
                <c:pt idx="1">
                  <c:v>Detroit</c:v>
                </c:pt>
                <c:pt idx="2">
                  <c:v>Seattle</c:v>
                </c:pt>
                <c:pt idx="3">
                  <c:v>Houston</c:v>
                </c:pt>
                <c:pt idx="4">
                  <c:v>New York</c:v>
                </c:pt>
                <c:pt idx="5">
                  <c:v>Boston</c:v>
                </c:pt>
                <c:pt idx="6">
                  <c:v>Baltimore</c:v>
                </c:pt>
                <c:pt idx="7">
                  <c:v>Dallas</c:v>
                </c:pt>
                <c:pt idx="8">
                  <c:v>New Orleons</c:v>
                </c:pt>
                <c:pt idx="9">
                  <c:v>Los Angeles</c:v>
                </c:pt>
                <c:pt idx="10">
                  <c:v>San Francisco</c:v>
                </c:pt>
                <c:pt idx="11">
                  <c:v>Austin</c:v>
                </c:pt>
                <c:pt idx="12">
                  <c:v>Philadelphia</c:v>
                </c:pt>
              </c:strCache>
            </c:strRef>
          </c:cat>
          <c:val>
            <c:numRef>
              <c:f>Sheet1!$B$2:$B$14</c:f>
              <c:numCache>
                <c:formatCode>General</c:formatCode>
                <c:ptCount val="13"/>
                <c:pt idx="0">
                  <c:v>5316</c:v>
                </c:pt>
                <c:pt idx="1">
                  <c:v>3945</c:v>
                </c:pt>
                <c:pt idx="2">
                  <c:v>3375</c:v>
                </c:pt>
                <c:pt idx="3">
                  <c:v>3339</c:v>
                </c:pt>
                <c:pt idx="4">
                  <c:v>3226</c:v>
                </c:pt>
                <c:pt idx="5">
                  <c:v>2966</c:v>
                </c:pt>
                <c:pt idx="6">
                  <c:v>1263</c:v>
                </c:pt>
                <c:pt idx="7">
                  <c:v>1208</c:v>
                </c:pt>
                <c:pt idx="8">
                  <c:v>817</c:v>
                </c:pt>
                <c:pt idx="9">
                  <c:v>640</c:v>
                </c:pt>
                <c:pt idx="10">
                  <c:v>435</c:v>
                </c:pt>
                <c:pt idx="11">
                  <c:v>434</c:v>
                </c:pt>
                <c:pt idx="12">
                  <c:v>41</c:v>
                </c:pt>
              </c:numCache>
            </c:numRef>
          </c:val>
          <c:extLst>
            <c:ext xmlns:c16="http://schemas.microsoft.com/office/drawing/2014/chart" uri="{C3380CC4-5D6E-409C-BE32-E72D297353CC}">
              <c16:uniqueId val="{00000000-003A-4DC2-AF47-834AAB0660D3}"/>
            </c:ext>
          </c:extLst>
        </c:ser>
        <c:dLbls>
          <c:dLblPos val="outEnd"/>
          <c:showLegendKey val="0"/>
          <c:showVal val="1"/>
          <c:showCatName val="0"/>
          <c:showSerName val="0"/>
          <c:showPercent val="0"/>
          <c:showBubbleSize val="0"/>
        </c:dLbls>
        <c:gapWidth val="182"/>
        <c:axId val="54294023"/>
        <c:axId val="54296071"/>
      </c:barChart>
      <c:catAx>
        <c:axId val="54294023"/>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Location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296071"/>
        <c:crosses val="autoZero"/>
        <c:auto val="1"/>
        <c:lblAlgn val="ctr"/>
        <c:lblOffset val="100"/>
        <c:noMultiLvlLbl val="0"/>
      </c:catAx>
      <c:valAx>
        <c:axId val="5429607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2940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Sheet2!$B$1:$B$1</c:f>
              <c:strCache>
                <c:ptCount val="1"/>
                <c:pt idx="0">
                  <c:v>Average Annual Salary</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Sheet2!$A$2:$A$11</c:f>
              <c:strCache>
                <c:ptCount val="10"/>
                <c:pt idx="0">
                  <c:v>Swift</c:v>
                </c:pt>
                <c:pt idx="1">
                  <c:v>Python</c:v>
                </c:pt>
                <c:pt idx="2">
                  <c:v>C++</c:v>
                </c:pt>
                <c:pt idx="3">
                  <c:v>Javascript</c:v>
                </c:pt>
                <c:pt idx="4">
                  <c:v>Java</c:v>
                </c:pt>
                <c:pt idx="5">
                  <c:v>Go</c:v>
                </c:pt>
                <c:pt idx="6">
                  <c:v>R</c:v>
                </c:pt>
                <c:pt idx="7">
                  <c:v>C#</c:v>
                </c:pt>
                <c:pt idx="8">
                  <c:v>SQL</c:v>
                </c:pt>
                <c:pt idx="9">
                  <c:v>PHP</c:v>
                </c:pt>
              </c:strCache>
            </c:strRef>
          </c:cat>
          <c:val>
            <c:numRef>
              <c:f>Sheet2!$B$2:$B$11</c:f>
              <c:numCache>
                <c:formatCode>"$"#,##0_);[Red]\("$"#,##0\)</c:formatCode>
                <c:ptCount val="10"/>
                <c:pt idx="0">
                  <c:v>130801</c:v>
                </c:pt>
                <c:pt idx="1">
                  <c:v>114383</c:v>
                </c:pt>
                <c:pt idx="2">
                  <c:v>113865</c:v>
                </c:pt>
                <c:pt idx="3">
                  <c:v>110981</c:v>
                </c:pt>
                <c:pt idx="4">
                  <c:v>101013</c:v>
                </c:pt>
                <c:pt idx="5">
                  <c:v>94082</c:v>
                </c:pt>
                <c:pt idx="6">
                  <c:v>92037</c:v>
                </c:pt>
                <c:pt idx="7">
                  <c:v>88726</c:v>
                </c:pt>
                <c:pt idx="8">
                  <c:v>84793</c:v>
                </c:pt>
                <c:pt idx="9">
                  <c:v>84727</c:v>
                </c:pt>
              </c:numCache>
            </c:numRef>
          </c:val>
          <c:extLst>
            <c:ext xmlns:c16="http://schemas.microsoft.com/office/drawing/2014/chart" uri="{C3380CC4-5D6E-409C-BE32-E72D297353CC}">
              <c16:uniqueId val="{00000000-C63E-42FA-A485-C9EC7178050F}"/>
            </c:ext>
          </c:extLst>
        </c:ser>
        <c:dLbls>
          <c:dLblPos val="outEnd"/>
          <c:showLegendKey val="0"/>
          <c:showVal val="1"/>
          <c:showCatName val="0"/>
          <c:showSerName val="0"/>
          <c:showPercent val="0"/>
          <c:showBubbleSize val="0"/>
        </c:dLbls>
        <c:gapWidth val="182"/>
        <c:axId val="1631307272"/>
        <c:axId val="1631309320"/>
      </c:barChart>
      <c:catAx>
        <c:axId val="1631307272"/>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Languages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31309320"/>
        <c:crosses val="autoZero"/>
        <c:auto val="1"/>
        <c:lblAlgn val="ctr"/>
        <c:lblOffset val="100"/>
        <c:noMultiLvlLbl val="0"/>
      </c:catAx>
      <c:valAx>
        <c:axId val="1631309320"/>
        <c:scaling>
          <c:orientation val="minMax"/>
        </c:scaling>
        <c:delete val="0"/>
        <c:axPos val="b"/>
        <c:majorGridlines>
          <c:spPr>
            <a:ln w="9525" cap="flat" cmpd="sng" algn="ctr">
              <a:solidFill>
                <a:schemeClr val="tx1">
                  <a:lumMod val="15000"/>
                  <a:lumOff val="85000"/>
                </a:schemeClr>
              </a:solidFill>
              <a:round/>
            </a:ln>
            <a:effectLst/>
          </c:spPr>
        </c:majorGridlines>
        <c:numFmt formatCode="&quot;$&quot;#,##0_);[Red]\(&quot;$&quot;#,##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313072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7/4/2026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4.sv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svg"/><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6.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hyperlink" Target="https://cf-courses-data.s3.us.cloud-object-storage.appdomain.cloud/T3iZyjwN9ifjS-B0JaYVgw/survey-data-updated%205.csv" TargetMode="External"/><Relationship Id="rId2" Type="http://schemas.openxmlformats.org/officeDocument/2006/relationships/slideLayout" Target="../slideLayouts/slideLayout3.xml"/><Relationship Id="rId1" Type="http://schemas.openxmlformats.org/officeDocument/2006/relationships/tags" Target="../tags/tag1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3.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15.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17.xml"/><Relationship Id="rId4" Type="http://schemas.openxmlformats.org/officeDocument/2006/relationships/hyperlink" Target="https://eu2.ca.analytics.ibm.com/bi/?perspective=dashboard&amp;pathRef=.my_folders%2FSurvey%2Bupdated%2Bdata%2Bdashboard&amp;action=view&amp;mode=dashboard&amp;subView=model0000019eaa56f9a5_00000000&amp;nav_filter=tru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3.xml"/><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slideLayout" Target="../slideLayouts/slideLayout3.xml"/><Relationship Id="rId1" Type="http://schemas.openxmlformats.org/officeDocument/2006/relationships/tags" Target="../tags/tag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ctrTitle"/>
          </p:nvPr>
        </p:nvSpPr>
        <p:spPr>
          <a:xfrm>
            <a:off x="141401" y="1168401"/>
            <a:ext cx="7037973" cy="2260599"/>
          </a:xfrm>
          <a:noFill/>
        </p:spPr>
        <p:txBody>
          <a:bodyPr/>
          <a:lstStyle/>
          <a:p>
            <a:r>
              <a:rPr lang="en-US" dirty="0">
                <a:latin typeface="IBM Plex Sans SemiBold"/>
              </a:rPr>
              <a:t>Survey Insights: The Tools Driving Today’s Developers</a:t>
            </a:r>
            <a:endParaRPr lang="en-US" dirty="0"/>
          </a:p>
        </p:txBody>
      </p:sp>
      <p:sp>
        <p:nvSpPr>
          <p:cNvPr id="3" name="Subtitle 2">
            <a:extLst>
              <a:ext uri="{FF2B5EF4-FFF2-40B4-BE49-F238E27FC236}">
                <a16:creationId xmlns:a16="http://schemas.microsoft.com/office/drawing/2014/main" id="{59DF6B8D-2BAC-11F8-7D28-B631D08C8D90}"/>
              </a:ext>
            </a:extLst>
          </p:cNvPr>
          <p:cNvSpPr>
            <a:spLocks noGrp="1"/>
          </p:cNvSpPr>
          <p:nvPr>
            <p:ph type="subTitle" idx="1"/>
          </p:nvPr>
        </p:nvSpPr>
        <p:spPr>
          <a:xfrm>
            <a:off x="-110027" y="3731247"/>
            <a:ext cx="9135454" cy="1655762"/>
          </a:xfrm>
          <a:noFill/>
        </p:spPr>
        <p:txBody>
          <a:bodyPr/>
          <a:lstStyle/>
          <a:p>
            <a:r>
              <a:rPr lang="en-US" dirty="0"/>
              <a:t>Part 1</a:t>
            </a:r>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7184719" y="387350"/>
            <a:ext cx="4794861" cy="4351338"/>
          </a:xfrm>
          <a:prstGeom prst="rect">
            <a:avLst/>
          </a:prstGeom>
          <a:noFill/>
        </p:spPr>
      </p:pic>
      <p:sp>
        <p:nvSpPr>
          <p:cNvPr id="5" name="TextBox 4">
            <a:extLst>
              <a:ext uri="{FF2B5EF4-FFF2-40B4-BE49-F238E27FC236}">
                <a16:creationId xmlns:a16="http://schemas.microsoft.com/office/drawing/2014/main" id="{218A4A48-A691-8A81-7F58-C4B83F0B2C92}"/>
              </a:ext>
            </a:extLst>
          </p:cNvPr>
          <p:cNvSpPr txBox="1"/>
          <p:nvPr/>
        </p:nvSpPr>
        <p:spPr>
          <a:xfrm>
            <a:off x="13157" y="4316856"/>
            <a:ext cx="334699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By Lovemo</a:t>
            </a:r>
            <a:r>
              <a:rPr lang="en-US"/>
              <a:t>re C. </a:t>
            </a:r>
            <a:r>
              <a:rPr lang="en-US" err="1"/>
              <a:t>Jongomedzi</a:t>
            </a:r>
            <a:endParaRPr lang="en-US" dirty="0"/>
          </a:p>
          <a:p>
            <a:r>
              <a:rPr lang="en-US"/>
              <a:t>Data Analytics Student at IBM</a:t>
            </a:r>
          </a:p>
          <a:p>
            <a:r>
              <a:rPr lang="en-US"/>
              <a:t>June 2026</a:t>
            </a:r>
            <a:endParaRPr lang="en-US" dirty="0"/>
          </a:p>
        </p:txBody>
      </p:sp>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latin typeface="IBM Plex Sans"/>
              </a:rPr>
              <a:t>Executive Summary</a:t>
            </a:r>
            <a:endParaRPr lang="en-US"/>
          </a:p>
          <a:p>
            <a:r>
              <a:rPr lang="en-US" sz="2200" dirty="0">
                <a:latin typeface="IBM Plex Sans"/>
              </a:rPr>
              <a:t>Introduction</a:t>
            </a:r>
            <a:endParaRPr lang="en-US"/>
          </a:p>
          <a:p>
            <a:r>
              <a:rPr lang="en-US" sz="2200" dirty="0">
                <a:latin typeface="IBM Plex Sans"/>
              </a:rPr>
              <a:t>Methodology</a:t>
            </a:r>
            <a:endParaRPr lang="en-US"/>
          </a:p>
          <a:p>
            <a:r>
              <a:rPr lang="en-US" sz="2200" dirty="0">
                <a:latin typeface="IBM Plex Sans"/>
              </a:rPr>
              <a:t>Results</a:t>
            </a:r>
            <a:endParaRPr lang="en-US"/>
          </a:p>
          <a:p>
            <a:pPr lvl="1"/>
            <a:r>
              <a:rPr lang="en-US" sz="1800" dirty="0">
                <a:latin typeface="IBM Plex Sans"/>
              </a:rPr>
              <a:t>Visualization – Charts</a:t>
            </a:r>
            <a:endParaRPr lang="en-US"/>
          </a:p>
          <a:p>
            <a:pPr lvl="1"/>
            <a:r>
              <a:rPr lang="en-US" sz="1800" dirty="0">
                <a:latin typeface="IBM Plex Sans"/>
              </a:rPr>
              <a:t>Dashboard</a:t>
            </a:r>
            <a:endParaRPr lang="en-US"/>
          </a:p>
          <a:p>
            <a:r>
              <a:rPr lang="en-US" sz="2200" dirty="0">
                <a:latin typeface="IBM Plex Sans"/>
              </a:rPr>
              <a:t>Discussion</a:t>
            </a:r>
            <a:endParaRPr lang="en-US"/>
          </a:p>
          <a:p>
            <a:pPr lvl="1"/>
            <a:r>
              <a:rPr lang="en-US" sz="1800" dirty="0">
                <a:latin typeface="IBM Plex Sans"/>
              </a:rPr>
              <a:t>Findings &amp; Implications</a:t>
            </a:r>
            <a:endParaRPr lang="en-US"/>
          </a:p>
          <a:p>
            <a:r>
              <a:rPr lang="en-US" sz="2200" dirty="0">
                <a:latin typeface="IBM Plex Sans"/>
              </a:rPr>
              <a:t>Conclusion</a:t>
            </a:r>
            <a:endParaRPr lang="en-US"/>
          </a:p>
          <a:p>
            <a:r>
              <a:rPr lang="en-US" sz="2200" dirty="0">
                <a:latin typeface="IBM Plex Sans"/>
              </a:rPr>
              <a:t>Appendix</a:t>
            </a:r>
            <a:endParaRPr lang="en-US"/>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4285075" y="1825624"/>
            <a:ext cx="7068725" cy="446544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a:latin typeface="IBM Plex Sans"/>
              </a:rPr>
              <a:t>This report presents insights from a technology usage survey visualized through IBM Cognos Analytics. It highlights the most widely adopted programming languages, databases, cloud platforms, and web frameworks among developers. The findings reveal dominant technologies shaping modern development practices and provide implications for future adoption trends.</a:t>
            </a:r>
            <a:endParaRPr lang="en-US"/>
          </a:p>
          <a:p>
            <a:endParaRPr lang="en-US" sz="2200" dirty="0"/>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1090494" y="2302762"/>
            <a:ext cx="3194581" cy="3194581"/>
          </a:xfrm>
          <a:prstGeom prst="rect">
            <a:avLst/>
          </a:prstGeom>
        </p:spPr>
      </p:pic>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4285075" y="1825625"/>
            <a:ext cx="7068725"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800" dirty="0">
                <a:solidFill>
                  <a:schemeClr val="tx1"/>
                </a:solidFill>
                <a:latin typeface="IBM Plex Mono Text"/>
              </a:rPr>
              <a:t>The purpose of this report is to analyze current technology preferences across key categories in software development. By examining survey data, the report identifies patterns in tool usage and adoption rates, offering a comprehensive view of the modern tech stack landscape.</a:t>
            </a:r>
            <a:endParaRPr lang="en-US">
              <a:solidFill>
                <a:schemeClr val="tx1"/>
              </a:solidFill>
            </a:endParaRPr>
          </a:p>
          <a:p>
            <a:pPr marL="457200" lvl="1" indent="0">
              <a:buNone/>
            </a:pPr>
            <a:endParaRPr lang="en-US" sz="1800" dirty="0">
              <a:solidFill>
                <a:schemeClr val="tx1"/>
              </a:solidFill>
              <a:latin typeface="IBM Plex Mono Text"/>
            </a:endParaRP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376642"/>
            <a:ext cx="7230723" cy="1325563"/>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285075" y="1825625"/>
            <a:ext cx="7068725" cy="4351338"/>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b="1">
                <a:latin typeface="IBM Plex Sans"/>
              </a:rPr>
              <a:t>Data Source:</a:t>
            </a:r>
            <a:r>
              <a:rPr lang="en-US" sz="2200">
                <a:latin typeface="IBM Plex Sans"/>
              </a:rPr>
              <a:t> The data source  was downloaded from here: </a:t>
            </a:r>
            <a:r>
              <a:rPr lang="en-US" sz="2200" dirty="0">
                <a:latin typeface="IBM Plex Sans"/>
                <a:hlinkClick r:id="rId3"/>
              </a:rPr>
              <a:t>Link</a:t>
            </a:r>
            <a:r>
              <a:rPr lang="en-US" sz="2200">
                <a:latin typeface="IBM Plex Sans"/>
              </a:rPr>
              <a:t>.</a:t>
            </a:r>
            <a:endParaRPr lang="en-US" sz="2200">
              <a:solidFill>
                <a:srgbClr val="C6C6C6"/>
              </a:solidFill>
              <a:latin typeface="IBM Plex Sans"/>
            </a:endParaRPr>
          </a:p>
          <a:p>
            <a:r>
              <a:rPr lang="en-US" sz="2200" b="1" dirty="0">
                <a:latin typeface="IBM Plex Sans"/>
              </a:rPr>
              <a:t>Data Preparation:</a:t>
            </a:r>
            <a:r>
              <a:rPr lang="en-US" sz="2200" dirty="0">
                <a:latin typeface="IBM Plex Sans"/>
              </a:rPr>
              <a:t> The columns </a:t>
            </a:r>
            <a:r>
              <a:rPr lang="en-US" sz="2200" i="1" dirty="0" err="1">
                <a:latin typeface="IBM Plex Sans"/>
              </a:rPr>
              <a:t>LanguageHaveWorkedWith</a:t>
            </a:r>
            <a:r>
              <a:rPr lang="en-US" sz="2200" i="1" dirty="0">
                <a:latin typeface="IBM Plex Sans"/>
              </a:rPr>
              <a:t>, </a:t>
            </a:r>
            <a:r>
              <a:rPr lang="en-US" sz="2200" i="1" dirty="0" err="1">
                <a:latin typeface="IBM Plex Sans"/>
              </a:rPr>
              <a:t>LanguageWantToWorkWith</a:t>
            </a:r>
            <a:r>
              <a:rPr lang="en-US" sz="2200" i="1" dirty="0">
                <a:latin typeface="IBM Plex Sans"/>
              </a:rPr>
              <a:t>, </a:t>
            </a:r>
            <a:r>
              <a:rPr lang="en-US" sz="2200" i="1" dirty="0" err="1">
                <a:latin typeface="IBM Plex Sans"/>
              </a:rPr>
              <a:t>DatabaseHaveWorkedWith</a:t>
            </a:r>
            <a:r>
              <a:rPr lang="en-US" sz="2200" i="1" dirty="0">
                <a:latin typeface="IBM Plex Sans"/>
              </a:rPr>
              <a:t>, </a:t>
            </a:r>
            <a:r>
              <a:rPr lang="en-US" sz="2200" i="1" dirty="0" err="1">
                <a:latin typeface="IBM Plex Sans"/>
              </a:rPr>
              <a:t>DatabaseWantToWorkWith</a:t>
            </a:r>
            <a:r>
              <a:rPr lang="en-US" sz="2200" i="1" dirty="0">
                <a:latin typeface="IBM Plex Sans"/>
              </a:rPr>
              <a:t>, </a:t>
            </a:r>
            <a:r>
              <a:rPr lang="en-US" sz="2200" i="1" dirty="0" err="1">
                <a:latin typeface="IBM Plex Sans"/>
              </a:rPr>
              <a:t>PlatformHaveWorkedWith</a:t>
            </a:r>
            <a:r>
              <a:rPr lang="en-US" sz="2200" i="1" dirty="0">
                <a:latin typeface="IBM Plex Sans"/>
              </a:rPr>
              <a:t>, </a:t>
            </a:r>
            <a:r>
              <a:rPr lang="en-US" sz="2200" i="1" dirty="0" err="1">
                <a:latin typeface="IBM Plex Sans"/>
              </a:rPr>
              <a:t>PlatformWantToWorkWith,WebframeHaveWorkedWith</a:t>
            </a:r>
            <a:r>
              <a:rPr lang="en-US" sz="2200" i="1" dirty="0">
                <a:latin typeface="IBM Plex Sans"/>
              </a:rPr>
              <a:t> and </a:t>
            </a:r>
            <a:r>
              <a:rPr lang="en-US" sz="2200" i="1" dirty="0" err="1">
                <a:latin typeface="IBM Plex Sans"/>
              </a:rPr>
              <a:t>WEbframeWantToWorkWith</a:t>
            </a:r>
            <a:r>
              <a:rPr lang="en-US" sz="2200" dirty="0">
                <a:latin typeface="IBM Plex Sans"/>
              </a:rPr>
              <a:t>   were split and exploded to create individual entries for each column. The developer survey dataset was then imported into IBM Cognos Analytics.</a:t>
            </a:r>
            <a:endParaRPr lang="en-US" sz="2200" dirty="0">
              <a:solidFill>
                <a:srgbClr val="C6C6C6"/>
              </a:solidFill>
              <a:latin typeface="IBM Plex Sans"/>
            </a:endParaRPr>
          </a:p>
          <a:p>
            <a:r>
              <a:rPr lang="en-US" sz="2200" b="1">
                <a:latin typeface="IBM Plex Sans"/>
              </a:rPr>
              <a:t>Visualization Tools:</a:t>
            </a:r>
            <a:r>
              <a:rPr lang="en-US" sz="2200">
                <a:latin typeface="IBM Plex Sans"/>
              </a:rPr>
              <a:t> IBM Cognos Analytics dashboard features were used to generate bar charts and comparative visuals.</a:t>
            </a:r>
            <a:endParaRPr lang="en-US"/>
          </a:p>
          <a:p>
            <a:r>
              <a:rPr lang="en-US" sz="2200" b="1" dirty="0">
                <a:latin typeface="IBM Plex Sans"/>
              </a:rPr>
              <a:t>Analysis Approach:</a:t>
            </a:r>
            <a:r>
              <a:rPr lang="en-US" sz="2200" dirty="0">
                <a:latin typeface="IBM Plex Sans"/>
              </a:rPr>
              <a:t> Top 10 technologies per category were identified based on frequency counts.</a:t>
            </a:r>
            <a:endParaRPr lang="en-US" sz="1800" dirty="0"/>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4"/>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3F900-F166-BEB7-F740-8C872536D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210DC-B757-47AF-44F4-D6EC9F4BF93B}"/>
              </a:ext>
            </a:extLst>
          </p:cNvPr>
          <p:cNvSpPr>
            <a:spLocks noGrp="1"/>
          </p:cNvSpPr>
          <p:nvPr>
            <p:ph type="ctrTitle"/>
          </p:nvPr>
        </p:nvSpPr>
        <p:spPr/>
        <p:txBody>
          <a:bodyPr anchor="ctr">
            <a:normAutofit/>
          </a:bodyPr>
          <a:lstStyle/>
          <a:p>
            <a:r>
              <a:rPr lang="en-US" dirty="0"/>
              <a:t>RESULTS</a:t>
            </a:r>
          </a:p>
        </p:txBody>
      </p:sp>
      <p:sp>
        <p:nvSpPr>
          <p:cNvPr id="4" name="Subtitle 3">
            <a:extLst>
              <a:ext uri="{FF2B5EF4-FFF2-40B4-BE49-F238E27FC236}">
                <a16:creationId xmlns:a16="http://schemas.microsoft.com/office/drawing/2014/main" id="{55065137-A3E8-D276-79E9-0EF1419DC041}"/>
              </a:ext>
            </a:extLst>
          </p:cNvPr>
          <p:cNvSpPr>
            <a:spLocks noGrp="1"/>
          </p:cNvSpPr>
          <p:nvPr>
            <p:ph type="subTitle" idx="1"/>
          </p:nvPr>
        </p:nvSpPr>
        <p:spPr/>
        <p:txBody>
          <a:bodyPr vert="horz" lIns="91440" tIns="45720" rIns="91440" bIns="45720" rtlCol="0" anchor="t">
            <a:normAutofit/>
          </a:bodyPr>
          <a:lstStyle/>
          <a:p>
            <a:pPr marL="342900" indent="-342900">
              <a:buChar char="•"/>
            </a:pPr>
            <a:r>
              <a:rPr lang="en-US">
                <a:latin typeface="IBM Plex Sans"/>
              </a:rPr>
              <a:t>VISUALISATION– CHARTS</a:t>
            </a:r>
            <a:endParaRPr lang="en-US"/>
          </a:p>
          <a:p>
            <a:pPr marL="342900" indent="-342900">
              <a:buChar char="•"/>
            </a:pPr>
            <a:r>
              <a:rPr lang="en-US">
                <a:latin typeface="IBM Plex Sans"/>
              </a:rPr>
              <a:t>DASHBOARD</a:t>
            </a:r>
            <a:endParaRPr lang="en-US" dirty="0"/>
          </a:p>
        </p:txBody>
      </p:sp>
      <p:sp>
        <p:nvSpPr>
          <p:cNvPr id="3" name="Content Placeholder 2">
            <a:extLst>
              <a:ext uri="{FF2B5EF4-FFF2-40B4-BE49-F238E27FC236}">
                <a16:creationId xmlns:a16="http://schemas.microsoft.com/office/drawing/2014/main" id="{27E1D05E-A3D3-356F-EB51-94E7A1AE2A61}"/>
              </a:ext>
            </a:extLst>
          </p:cNvPr>
          <p:cNvSpPr txBox="1">
            <a:spLocks/>
          </p:cNvSpPr>
          <p:nvPr/>
        </p:nvSpPr>
        <p:spPr>
          <a:xfrm>
            <a:off x="1043114" y="1825625"/>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sz="1800"/>
          </a:p>
          <a:p>
            <a:pPr marL="0" indent="0">
              <a:buFont typeface="Arial"/>
              <a:buNone/>
            </a:pPr>
            <a:endParaRPr lang="en-US" sz="1800"/>
          </a:p>
          <a:p>
            <a:pPr marL="0" indent="0">
              <a:buFont typeface="Arial"/>
              <a:buNone/>
            </a:pPr>
            <a:endParaRPr lang="en-US" sz="1800" dirty="0"/>
          </a:p>
        </p:txBody>
      </p:sp>
    </p:spTree>
    <p:custDataLst>
      <p:tags r:id="rId1"/>
    </p:custDataLst>
    <p:extLst>
      <p:ext uri="{BB962C8B-B14F-4D97-AF65-F5344CB8AC3E}">
        <p14:creationId xmlns:p14="http://schemas.microsoft.com/office/powerpoint/2010/main" val="2215908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a:xfrm>
            <a:off x="838200" y="365125"/>
            <a:ext cx="10515600" cy="1325563"/>
          </a:xfrm>
        </p:spPr>
        <p:txBody>
          <a:bodyPr/>
          <a:lstStyle/>
          <a:p>
            <a:r>
              <a:rPr lang="en-US" dirty="0"/>
              <a:t>PROGRAMMING LANGUAGE TRENDS</a:t>
            </a:r>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813816" y="1825625"/>
            <a:ext cx="2228642" cy="501939"/>
          </a:xfrm>
        </p:spPr>
        <p:txBody>
          <a:bodyPr/>
          <a:lstStyle/>
          <a:p>
            <a:pPr marL="0" indent="0">
              <a:buNone/>
            </a:pPr>
            <a:r>
              <a:rPr lang="en-US" dirty="0"/>
              <a:t>Current Year</a:t>
            </a:r>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6172200" y="1825625"/>
            <a:ext cx="1758142" cy="501939"/>
          </a:xfrm>
        </p:spPr>
        <p:txBody>
          <a:bodyPr/>
          <a:lstStyle/>
          <a:p>
            <a:pPr marL="0" indent="0">
              <a:buNone/>
            </a:pPr>
            <a:r>
              <a:rPr lang="en-US" dirty="0"/>
              <a:t>Next Year</a:t>
            </a:r>
          </a:p>
        </p:txBody>
      </p:sp>
      <p:sp>
        <p:nvSpPr>
          <p:cNvPr id="11" name="Content Placeholder 2">
            <a:extLst>
              <a:ext uri="{FF2B5EF4-FFF2-40B4-BE49-F238E27FC236}">
                <a16:creationId xmlns:a16="http://schemas.microsoft.com/office/drawing/2014/main" id="{FBAA9DB0-9EAC-9B25-C7F3-3CE83758128E}"/>
              </a:ext>
            </a:extLst>
          </p:cNvPr>
          <p:cNvSpPr txBox="1">
            <a:spLocks/>
          </p:cNvSpPr>
          <p:nvPr/>
        </p:nvSpPr>
        <p:spPr>
          <a:xfrm>
            <a:off x="6172200"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&lt; Bar chart of top 10 programming languages for the next year goes here.&gt;</a:t>
            </a:r>
          </a:p>
        </p:txBody>
      </p:sp>
      <p:pic>
        <p:nvPicPr>
          <p:cNvPr id="3" name="Picture 2">
            <a:extLst>
              <a:ext uri="{FF2B5EF4-FFF2-40B4-BE49-F238E27FC236}">
                <a16:creationId xmlns:a16="http://schemas.microsoft.com/office/drawing/2014/main" id="{859A6617-4FBE-2D2B-BE12-48287F166BE6}"/>
              </a:ext>
            </a:extLst>
          </p:cNvPr>
          <p:cNvPicPr>
            <a:picLocks noChangeAspect="1"/>
          </p:cNvPicPr>
          <p:nvPr/>
        </p:nvPicPr>
        <p:blipFill>
          <a:blip r:embed="rId3"/>
          <a:stretch>
            <a:fillRect/>
          </a:stretch>
        </p:blipFill>
        <p:spPr>
          <a:xfrm>
            <a:off x="487892" y="2509838"/>
            <a:ext cx="5128682" cy="3963457"/>
          </a:xfrm>
          <a:prstGeom prst="rect">
            <a:avLst/>
          </a:prstGeom>
        </p:spPr>
      </p:pic>
      <p:pic>
        <p:nvPicPr>
          <p:cNvPr id="5" name="Picture 4">
            <a:extLst>
              <a:ext uri="{FF2B5EF4-FFF2-40B4-BE49-F238E27FC236}">
                <a16:creationId xmlns:a16="http://schemas.microsoft.com/office/drawing/2014/main" id="{8DA5066D-2129-48CA-8AC7-1CD429BFB6E9}"/>
              </a:ext>
            </a:extLst>
          </p:cNvPr>
          <p:cNvPicPr>
            <a:picLocks noChangeAspect="1"/>
          </p:cNvPicPr>
          <p:nvPr/>
        </p:nvPicPr>
        <p:blipFill>
          <a:blip r:embed="rId4"/>
          <a:stretch>
            <a:fillRect/>
          </a:stretch>
        </p:blipFill>
        <p:spPr>
          <a:xfrm>
            <a:off x="5664200" y="2505075"/>
            <a:ext cx="5122334" cy="3676651"/>
          </a:xfrm>
          <a:prstGeom prst="rect">
            <a:avLst/>
          </a:prstGeom>
        </p:spPr>
      </p:pic>
    </p:spTree>
    <p:custDataLst>
      <p:tags r:id="rId1"/>
    </p:custDataLst>
    <p:extLst>
      <p:ext uri="{BB962C8B-B14F-4D97-AF65-F5344CB8AC3E}">
        <p14:creationId xmlns:p14="http://schemas.microsoft.com/office/powerpoint/2010/main" val="3684467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838200" y="365125"/>
            <a:ext cx="10515600" cy="1325563"/>
          </a:xfrm>
        </p:spPr>
        <p:txBody>
          <a:bodyPr>
            <a:normAutofit/>
          </a:bodyPr>
          <a:lstStyle/>
          <a:p>
            <a:r>
              <a:rPr lang="en-US" sz="2400" dirty="0">
                <a:latin typeface="IBM Plex Sans SemiBold"/>
              </a:rPr>
              <a:t>PROGRAMMING LANGUAGE TRENDS - FINDINGS &amp; IMPLICATIONS</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13816" y="1825625"/>
            <a:ext cx="5181600" cy="4351338"/>
          </a:xfrm>
        </p:spPr>
        <p:txBody>
          <a:bodyPr vert="horz" lIns="91440" tIns="45720" rIns="91440" bIns="45720" rtlCol="0" anchor="t">
            <a:normAutofit fontScale="85000" lnSpcReduction="20000"/>
          </a:bodyPr>
          <a:lstStyle/>
          <a:p>
            <a:pPr marL="0" indent="0">
              <a:buNone/>
            </a:pPr>
            <a:r>
              <a:rPr lang="en-US" dirty="0"/>
              <a:t>Findings</a:t>
            </a:r>
          </a:p>
          <a:p>
            <a:pPr marL="0" indent="0">
              <a:buNone/>
            </a:pPr>
            <a:endParaRPr lang="en-US" dirty="0"/>
          </a:p>
          <a:p>
            <a:r>
              <a:rPr lang="en-US" sz="2900" dirty="0">
                <a:solidFill>
                  <a:srgbClr val="393939"/>
                </a:solidFill>
                <a:highlight>
                  <a:srgbClr val="F4F4F4"/>
                </a:highlight>
                <a:latin typeface="IBM Plex Sans"/>
              </a:rPr>
              <a:t>The number of respondents who have used JavaScript is the highest at nearly 15 thousand, followed by that of those who have used SQL at nearly13 thousand. This pattern remains the same for  languages developers who want to work with the </a:t>
            </a:r>
            <a:r>
              <a:rPr lang="en-US" sz="2900" dirty="0" err="1">
                <a:solidFill>
                  <a:srgbClr val="393939"/>
                </a:solidFill>
                <a:highlight>
                  <a:srgbClr val="F4F4F4"/>
                </a:highlight>
                <a:latin typeface="IBM Plex Sans"/>
              </a:rPr>
              <a:t>langu</a:t>
            </a:r>
            <a:r>
              <a:rPr lang="en-US" sz="2900" dirty="0">
                <a:solidFill>
                  <a:srgbClr val="393939"/>
                </a:solidFill>
                <a:highlight>
                  <a:srgbClr val="F4F4F4"/>
                </a:highlight>
                <a:latin typeface="IBM Plex Sans"/>
              </a:rPr>
              <a:t>ages. </a:t>
            </a:r>
            <a:endParaRPr lang="en-US" dirty="0"/>
          </a:p>
          <a:p>
            <a:r>
              <a:rPr lang="en-US" sz="2900" dirty="0">
                <a:solidFill>
                  <a:srgbClr val="393939"/>
                </a:solidFill>
                <a:highlight>
                  <a:srgbClr val="F4F4F4"/>
                </a:highlight>
                <a:latin typeface="IBM Plex Sans"/>
              </a:rPr>
              <a:t>The number of respondents who want to </a:t>
            </a:r>
            <a:r>
              <a:rPr lang="en-US" sz="2900">
                <a:solidFill>
                  <a:srgbClr val="393939"/>
                </a:solidFill>
                <a:highlight>
                  <a:srgbClr val="F4F4F4"/>
                </a:highlight>
                <a:latin typeface="IBM Plex Sans"/>
              </a:rPr>
              <a:t>use the current languages decreased.</a:t>
            </a:r>
          </a:p>
          <a:p>
            <a:endParaRPr lang="en-US" sz="2900" dirty="0">
              <a:solidFill>
                <a:srgbClr val="393939"/>
              </a:solidFill>
              <a:highlight>
                <a:srgbClr val="F4F4F4"/>
              </a:highlight>
              <a:latin typeface="IBM Plex Sans"/>
            </a:endParaRPr>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172200" y="1825625"/>
            <a:ext cx="5181600" cy="4351338"/>
          </a:xfrm>
        </p:spPr>
        <p:txBody>
          <a:bodyPr vert="horz" lIns="91440" tIns="45720" rIns="91440" bIns="45720" rtlCol="0" anchor="t">
            <a:normAutofit fontScale="85000" lnSpcReduction="20000"/>
          </a:bodyPr>
          <a:lstStyle/>
          <a:p>
            <a:pPr marL="0" indent="0">
              <a:buNone/>
            </a:pPr>
            <a:r>
              <a:rPr lang="en-US" dirty="0"/>
              <a:t>Implications</a:t>
            </a:r>
          </a:p>
          <a:p>
            <a:pPr marL="0" indent="0">
              <a:buNone/>
            </a:pPr>
            <a:endParaRPr lang="en-US" dirty="0"/>
          </a:p>
          <a:p>
            <a:r>
              <a:rPr lang="en-US" dirty="0">
                <a:latin typeface="IBM Plex Sans"/>
              </a:rPr>
              <a:t>JavaScript and SQL remain the most </a:t>
            </a:r>
            <a:r>
              <a:rPr lang="en-US">
                <a:latin typeface="IBM Plex Sans"/>
              </a:rPr>
              <a:t>popular languages..</a:t>
            </a:r>
            <a:endParaRPr lang="en-US" dirty="0"/>
          </a:p>
          <a:p>
            <a:r>
              <a:rPr lang="en-US" dirty="0">
                <a:latin typeface="IBM Plex Sans"/>
              </a:rPr>
              <a:t>The popularity of </a:t>
            </a:r>
            <a:r>
              <a:rPr lang="en-US">
                <a:latin typeface="IBM Plex Sans"/>
              </a:rPr>
              <a:t>the</a:t>
            </a:r>
            <a:r>
              <a:rPr lang="en-US" dirty="0">
                <a:latin typeface="IBM Plex Sans"/>
              </a:rPr>
              <a:t> top 10 languages </a:t>
            </a:r>
            <a:r>
              <a:rPr lang="en-US">
                <a:latin typeface="IBM Plex Sans"/>
              </a:rPr>
              <a:t>is decreasing.</a:t>
            </a:r>
            <a:endParaRPr lang="en-US" dirty="0"/>
          </a:p>
          <a:p>
            <a:r>
              <a:rPr lang="en-US" sz="3100" dirty="0">
                <a:solidFill>
                  <a:srgbClr val="393939"/>
                </a:solidFill>
                <a:highlight>
                  <a:srgbClr val="F4F4F4"/>
                </a:highlight>
                <a:latin typeface="IBM Plex Sans"/>
              </a:rPr>
              <a:t>HTML/CSS is losing popularity </a:t>
            </a:r>
            <a:r>
              <a:rPr lang="en-US" sz="3100">
                <a:solidFill>
                  <a:srgbClr val="393939"/>
                </a:solidFill>
                <a:highlight>
                  <a:srgbClr val="F4F4F4"/>
                </a:highlight>
                <a:latin typeface="IBM Plex Sans"/>
              </a:rPr>
              <a:t>and position</a:t>
            </a:r>
            <a:r>
              <a:rPr lang="en-US" sz="3100" dirty="0">
                <a:solidFill>
                  <a:srgbClr val="393939"/>
                </a:solidFill>
                <a:highlight>
                  <a:srgbClr val="F4F4F4"/>
                </a:highlight>
                <a:latin typeface="IBM Plex Sans"/>
              </a:rPr>
              <a:t>.</a:t>
            </a:r>
            <a:endParaRPr lang="en-US" sz="3100" dirty="0">
              <a:solidFill>
                <a:srgbClr val="393939"/>
              </a:solidFill>
              <a:highlight>
                <a:srgbClr val="F4F4F4"/>
              </a:highlight>
            </a:endParaRPr>
          </a:p>
          <a:p>
            <a:endParaRPr lang="en-US" dirty="0"/>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lstStyle/>
          <a:p>
            <a:r>
              <a:rPr lang="en-US" dirty="0"/>
              <a:t>DATABASE TRENDS</a:t>
            </a:r>
          </a:p>
        </p:txBody>
      </p:sp>
      <p:sp>
        <p:nvSpPr>
          <p:cNvPr id="3" name="Content Placeholder 2">
            <a:extLst>
              <a:ext uri="{FF2B5EF4-FFF2-40B4-BE49-F238E27FC236}">
                <a16:creationId xmlns:a16="http://schemas.microsoft.com/office/drawing/2014/main" id="{6C2B3FA5-2985-EAFB-8885-6820D4058AF4}"/>
              </a:ext>
            </a:extLst>
          </p:cNvPr>
          <p:cNvSpPr>
            <a:spLocks noGrp="1"/>
          </p:cNvSpPr>
          <p:nvPr>
            <p:ph sz="half" idx="1"/>
          </p:nvPr>
        </p:nvSpPr>
        <p:spPr>
          <a:xfrm>
            <a:off x="813816" y="1825625"/>
            <a:ext cx="2228642" cy="501939"/>
          </a:xfrm>
        </p:spPr>
        <p:txBody>
          <a:bodyPr/>
          <a:lstStyle/>
          <a:p>
            <a:pPr marL="0" indent="0">
              <a:buNone/>
            </a:pPr>
            <a:r>
              <a:rPr lang="en-US" dirty="0"/>
              <a:t>Current Year</a:t>
            </a:r>
          </a:p>
        </p:txBody>
      </p:sp>
      <p:sp>
        <p:nvSpPr>
          <p:cNvPr id="4" name="Content Placeholder 3">
            <a:extLst>
              <a:ext uri="{FF2B5EF4-FFF2-40B4-BE49-F238E27FC236}">
                <a16:creationId xmlns:a16="http://schemas.microsoft.com/office/drawing/2014/main" id="{30E0AA0B-A66B-F896-65D9-69DDA700D8E7}"/>
              </a:ext>
            </a:extLst>
          </p:cNvPr>
          <p:cNvSpPr>
            <a:spLocks noGrp="1"/>
          </p:cNvSpPr>
          <p:nvPr>
            <p:ph sz="half" idx="2"/>
          </p:nvPr>
        </p:nvSpPr>
        <p:spPr>
          <a:xfrm>
            <a:off x="6172200" y="1825625"/>
            <a:ext cx="1758142" cy="501939"/>
          </a:xfrm>
        </p:spPr>
        <p:txBody>
          <a:bodyPr/>
          <a:lstStyle/>
          <a:p>
            <a:pPr marL="0" indent="0">
              <a:buNone/>
            </a:pPr>
            <a:r>
              <a:rPr lang="en-US" dirty="0"/>
              <a:t>Next Year</a:t>
            </a:r>
          </a:p>
        </p:txBody>
      </p:sp>
      <p:sp>
        <p:nvSpPr>
          <p:cNvPr id="5" name="Content Placeholder 2">
            <a:extLst>
              <a:ext uri="{FF2B5EF4-FFF2-40B4-BE49-F238E27FC236}">
                <a16:creationId xmlns:a16="http://schemas.microsoft.com/office/drawing/2014/main" id="{B4E86EFD-B801-5996-879A-7A13CF75507C}"/>
              </a:ext>
            </a:extLst>
          </p:cNvPr>
          <p:cNvSpPr txBox="1">
            <a:spLocks/>
          </p:cNvSpPr>
          <p:nvPr/>
        </p:nvSpPr>
        <p:spPr>
          <a:xfrm>
            <a:off x="838199"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&lt; Bar chart of top 10 databases for the current year goes here &gt;</a:t>
            </a:r>
          </a:p>
        </p:txBody>
      </p:sp>
      <p:sp>
        <p:nvSpPr>
          <p:cNvPr id="6" name="Content Placeholder 2">
            <a:extLst>
              <a:ext uri="{FF2B5EF4-FFF2-40B4-BE49-F238E27FC236}">
                <a16:creationId xmlns:a16="http://schemas.microsoft.com/office/drawing/2014/main" id="{EF288C39-3E30-44CF-06C3-D46763CC8E0C}"/>
              </a:ext>
            </a:extLst>
          </p:cNvPr>
          <p:cNvSpPr txBox="1">
            <a:spLocks/>
          </p:cNvSpPr>
          <p:nvPr/>
        </p:nvSpPr>
        <p:spPr>
          <a:xfrm>
            <a:off x="6172200"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&lt; Bar chart of top 10 databases for the next year goes here.&gt;</a:t>
            </a:r>
          </a:p>
        </p:txBody>
      </p:sp>
      <p:pic>
        <p:nvPicPr>
          <p:cNvPr id="7" name="Picture 6">
            <a:extLst>
              <a:ext uri="{FF2B5EF4-FFF2-40B4-BE49-F238E27FC236}">
                <a16:creationId xmlns:a16="http://schemas.microsoft.com/office/drawing/2014/main" id="{0722961A-0818-8BA0-F3B7-C85E3B15B98B}"/>
              </a:ext>
            </a:extLst>
          </p:cNvPr>
          <p:cNvPicPr>
            <a:picLocks noChangeAspect="1"/>
          </p:cNvPicPr>
          <p:nvPr/>
        </p:nvPicPr>
        <p:blipFill>
          <a:blip r:embed="rId3"/>
          <a:stretch>
            <a:fillRect/>
          </a:stretch>
        </p:blipFill>
        <p:spPr>
          <a:xfrm>
            <a:off x="451380" y="2505605"/>
            <a:ext cx="5394747" cy="3827991"/>
          </a:xfrm>
          <a:prstGeom prst="rect">
            <a:avLst/>
          </a:prstGeom>
        </p:spPr>
      </p:pic>
      <p:pic>
        <p:nvPicPr>
          <p:cNvPr id="9" name="Picture 8">
            <a:extLst>
              <a:ext uri="{FF2B5EF4-FFF2-40B4-BE49-F238E27FC236}">
                <a16:creationId xmlns:a16="http://schemas.microsoft.com/office/drawing/2014/main" id="{8C6631D3-ED67-D27D-8C51-EBDF0FFEB8DF}"/>
              </a:ext>
            </a:extLst>
          </p:cNvPr>
          <p:cNvPicPr>
            <a:picLocks noChangeAspect="1"/>
          </p:cNvPicPr>
          <p:nvPr/>
        </p:nvPicPr>
        <p:blipFill>
          <a:blip r:embed="rId4"/>
          <a:stretch>
            <a:fillRect/>
          </a:stretch>
        </p:blipFill>
        <p:spPr>
          <a:xfrm>
            <a:off x="5988049" y="2574396"/>
            <a:ext cx="5390727" cy="3690408"/>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48985" y="365125"/>
            <a:ext cx="12094029" cy="1325563"/>
          </a:xfrm>
        </p:spPr>
        <p:txBody>
          <a:bodyPr/>
          <a:lstStyle/>
          <a:p>
            <a:r>
              <a:rPr lang="en-US" dirty="0"/>
              <a:t>DATABASE TRENDS - FINDINGS &amp; IMPLICATIONS</a:t>
            </a:r>
          </a:p>
        </p:txBody>
      </p:sp>
      <p:sp>
        <p:nvSpPr>
          <p:cNvPr id="3" name="Content Placeholder 2">
            <a:extLst>
              <a:ext uri="{FF2B5EF4-FFF2-40B4-BE49-F238E27FC236}">
                <a16:creationId xmlns:a16="http://schemas.microsoft.com/office/drawing/2014/main" id="{F73EC42F-75A2-FA08-F2B6-EB2817BBF83F}"/>
              </a:ext>
            </a:extLst>
          </p:cNvPr>
          <p:cNvSpPr>
            <a:spLocks noGrp="1"/>
          </p:cNvSpPr>
          <p:nvPr>
            <p:ph sz="half" idx="1"/>
          </p:nvPr>
        </p:nvSpPr>
        <p:spPr>
          <a:xfrm>
            <a:off x="813816" y="1825625"/>
            <a:ext cx="5181600" cy="4351338"/>
          </a:xfrm>
        </p:spPr>
        <p:txBody>
          <a:bodyPr vert="horz" lIns="91440" tIns="45720" rIns="91440" bIns="45720" rtlCol="0" anchor="t">
            <a:normAutofit/>
          </a:bodyPr>
          <a:lstStyle/>
          <a:p>
            <a:pPr marL="0" indent="0">
              <a:buNone/>
            </a:pPr>
            <a:r>
              <a:rPr lang="en-US" dirty="0"/>
              <a:t>Findings</a:t>
            </a:r>
          </a:p>
          <a:p>
            <a:pPr marL="0" indent="0">
              <a:buNone/>
            </a:pPr>
            <a:endParaRPr lang="en-US" dirty="0"/>
          </a:p>
          <a:p>
            <a:r>
              <a:rPr lang="en-US" dirty="0">
                <a:latin typeface="IBM Plex Sans"/>
              </a:rPr>
              <a:t>PostgreSQL has the highest number of respondents  for the database used most and wanted </a:t>
            </a:r>
            <a:r>
              <a:rPr lang="en-US">
                <a:latin typeface="IBM Plex Sans"/>
              </a:rPr>
              <a:t>most.</a:t>
            </a:r>
            <a:endParaRPr lang="en-US" dirty="0">
              <a:latin typeface="IBM Plex Sans"/>
            </a:endParaRPr>
          </a:p>
          <a:p>
            <a:r>
              <a:rPr lang="en-US" dirty="0">
                <a:latin typeface="IBM Plex Sans"/>
              </a:rPr>
              <a:t>The number of respondents for Redis increased to nearly 6500 and its position improved.</a:t>
            </a:r>
            <a:endParaRPr lang="en-US" dirty="0"/>
          </a:p>
        </p:txBody>
      </p:sp>
      <p:sp>
        <p:nvSpPr>
          <p:cNvPr id="4" name="Content Placeholder 3">
            <a:extLst>
              <a:ext uri="{FF2B5EF4-FFF2-40B4-BE49-F238E27FC236}">
                <a16:creationId xmlns:a16="http://schemas.microsoft.com/office/drawing/2014/main" id="{D327B10A-E9C3-5B71-0345-782E28BDB37C}"/>
              </a:ext>
            </a:extLst>
          </p:cNvPr>
          <p:cNvSpPr>
            <a:spLocks noGrp="1"/>
          </p:cNvSpPr>
          <p:nvPr>
            <p:ph sz="half" idx="2"/>
          </p:nvPr>
        </p:nvSpPr>
        <p:spPr>
          <a:xfrm>
            <a:off x="6172200" y="1825625"/>
            <a:ext cx="5181600" cy="4351338"/>
          </a:xfrm>
        </p:spPr>
        <p:txBody>
          <a:bodyPr vert="horz" lIns="91440" tIns="45720" rIns="91440" bIns="45720" rtlCol="0" anchor="t">
            <a:normAutofit/>
          </a:bodyPr>
          <a:lstStyle/>
          <a:p>
            <a:pPr marL="0" indent="0">
              <a:buNone/>
            </a:pPr>
            <a:r>
              <a:rPr lang="en-US" dirty="0"/>
              <a:t>Implications</a:t>
            </a:r>
          </a:p>
          <a:p>
            <a:pPr marL="0" indent="0">
              <a:buNone/>
            </a:pPr>
            <a:endParaRPr lang="en-US" dirty="0"/>
          </a:p>
          <a:p>
            <a:r>
              <a:rPr lang="en-US">
                <a:latin typeface="IBM Plex Sans"/>
              </a:rPr>
              <a:t>PostgreSQL is the most popular database and its </a:t>
            </a:r>
            <a:r>
              <a:rPr lang="en-US" err="1">
                <a:latin typeface="IBM Plex Sans"/>
              </a:rPr>
              <a:t>popu</a:t>
            </a:r>
            <a:r>
              <a:rPr lang="en-US">
                <a:latin typeface="IBM Plex Sans"/>
              </a:rPr>
              <a:t>larity is increasing.</a:t>
            </a:r>
            <a:endParaRPr lang="en-US"/>
          </a:p>
          <a:p>
            <a:r>
              <a:rPr lang="en-US">
                <a:latin typeface="IBM Plex Sans"/>
              </a:rPr>
              <a:t>Redis is increasing in popularity and position among databases.</a:t>
            </a:r>
            <a:endParaRPr lang="en-US"/>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a:xfrm>
            <a:off x="838200" y="365125"/>
            <a:ext cx="10515600" cy="1325563"/>
          </a:xfrm>
        </p:spPr>
        <p:txBody>
          <a:bodyPr anchor="ctr">
            <a:normAutofit/>
          </a:bodyPr>
          <a:lstStyle/>
          <a:p>
            <a:r>
              <a:rPr lang="en-US" dirty="0"/>
              <a:t>DASHBOARD</a:t>
            </a:r>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3"/>
          <a:stretch>
            <a:fillRect/>
          </a:stretch>
        </p:blipFill>
        <p:spPr>
          <a:xfrm>
            <a:off x="1077475" y="1901819"/>
            <a:ext cx="3054361" cy="3054361"/>
          </a:xfrm>
          <a:prstGeom prst="rect">
            <a:avLst/>
          </a:prstGeom>
        </p:spPr>
      </p:pic>
      <p:sp>
        <p:nvSpPr>
          <p:cNvPr id="5" name="TextBox 4">
            <a:extLst>
              <a:ext uri="{FF2B5EF4-FFF2-40B4-BE49-F238E27FC236}">
                <a16:creationId xmlns:a16="http://schemas.microsoft.com/office/drawing/2014/main" id="{6342514C-697A-9964-A1BE-D198CBAA51F4}"/>
              </a:ext>
            </a:extLst>
          </p:cNvPr>
          <p:cNvSpPr txBox="1"/>
          <p:nvPr/>
        </p:nvSpPr>
        <p:spPr>
          <a:xfrm>
            <a:off x="4774406" y="3083719"/>
            <a:ext cx="6096000" cy="20159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a:solidFill>
                  <a:srgbClr val="161616"/>
                </a:solidFill>
                <a:highlight>
                  <a:srgbClr val="F4F4F4"/>
                </a:highlight>
                <a:latin typeface="Consolas"/>
                <a:hlinkClick r:id="rId4">
                  <a:extLst>
                    <a:ext uri="{A12FA001-AC4F-418D-AE19-62706E023703}">
                      <ahyp:hlinkClr xmlns:ahyp="http://schemas.microsoft.com/office/drawing/2018/hyperlinkcolor" val="tx"/>
                    </a:ext>
                  </a:extLst>
                </a:hlinkClick>
              </a:rPr>
              <a:t>https://eu2.ca.analytics.ibm.com/bi/?perspective=dashboard&amp;pathRef=.my_folders%2FSurvey%2Bupdated%2Bdata%2Bdashboard&amp;action=view&amp;mode=dashboard&amp;subView=model0000019eaa56f9a5_00000000&amp;nav_filter=true</a:t>
            </a:r>
            <a:endParaRPr lang="en-US"/>
          </a:p>
          <a:p>
            <a:r>
              <a:rPr lang="en-US" sz="1100">
                <a:solidFill>
                  <a:srgbClr val="161616"/>
                </a:solidFill>
                <a:highlight>
                  <a:srgbClr val="FFFFFF"/>
                </a:highlight>
              </a:rPr>
              <a:t>Copy</a:t>
            </a:r>
            <a:endParaRPr lang="en-US"/>
          </a:p>
          <a:p>
            <a:r>
              <a:rPr lang="en-US" sz="1100" b="1">
                <a:solidFill>
                  <a:srgbClr val="161616"/>
                </a:solidFill>
                <a:highlight>
                  <a:srgbClr val="FFFFFF"/>
                </a:highlight>
              </a:rPr>
              <a:t>Embed code:</a:t>
            </a:r>
            <a:endParaRPr lang="en-US"/>
          </a:p>
          <a:p>
            <a:r>
              <a:rPr lang="en-US" sz="1100">
                <a:solidFill>
                  <a:srgbClr val="525252"/>
                </a:solidFill>
                <a:highlight>
                  <a:srgbClr val="FFFFFF"/>
                </a:highlight>
              </a:rPr>
              <a:t>Width:</a:t>
            </a:r>
            <a:endParaRPr lang="en-US"/>
          </a:p>
          <a:p>
            <a:r>
              <a:rPr lang="en-US" sz="1100">
                <a:solidFill>
                  <a:srgbClr val="525252"/>
                </a:solidFill>
                <a:highlight>
                  <a:srgbClr val="FFFFFF"/>
                </a:highlight>
              </a:rPr>
              <a:t>Height:</a:t>
            </a:r>
            <a:endParaRPr lang="en-US"/>
          </a:p>
          <a:p>
            <a:br>
              <a:rPr lang="en-US" dirty="0"/>
            </a:br>
            <a:endParaRPr lang="en-US" dirty="0"/>
          </a:p>
          <a:p>
            <a:pPr algn="ctr"/>
            <a:endParaRPr lang="en-US"/>
          </a:p>
        </p:txBody>
      </p:sp>
    </p:spTree>
    <p:custDataLst>
      <p:tags r:id="rId1"/>
    </p:custDataLst>
    <p:extLst>
      <p:ext uri="{BB962C8B-B14F-4D97-AF65-F5344CB8AC3E}">
        <p14:creationId xmlns:p14="http://schemas.microsoft.com/office/powerpoint/2010/main" val="175219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838200" y="365125"/>
            <a:ext cx="10515600" cy="1325563"/>
          </a:xfrm>
        </p:spPr>
        <p:txBody>
          <a:bodyPr anchor="ctr">
            <a:normAutofit/>
          </a:bodyPr>
          <a:lstStyle/>
          <a:p>
            <a:r>
              <a:rPr lang="en-US" sz="3200">
                <a:latin typeface="IBM Plex Sans SemiBold"/>
              </a:rPr>
              <a:t>DASHBOARD TAB 1: CURRENT TECHNOLOGY USAGE</a:t>
            </a:r>
            <a:endParaRPr lang="en-US" sz="3200" dirty="0"/>
          </a:p>
        </p:txBody>
      </p:sp>
      <p:sp>
        <p:nvSpPr>
          <p:cNvPr id="3" name="Content Placeholder 2">
            <a:extLst>
              <a:ext uri="{FF2B5EF4-FFF2-40B4-BE49-F238E27FC236}">
                <a16:creationId xmlns:a16="http://schemas.microsoft.com/office/drawing/2014/main" id="{B396FB03-F857-3EC0-249E-AE03F391502E}"/>
              </a:ext>
            </a:extLst>
          </p:cNvPr>
          <p:cNvSpPr>
            <a:spLocks noGrp="1"/>
          </p:cNvSpPr>
          <p:nvPr>
            <p:ph idx="1"/>
          </p:nvPr>
        </p:nvSpPr>
        <p:spPr>
          <a:xfrm>
            <a:off x="838200" y="1690688"/>
            <a:ext cx="10515600" cy="4351338"/>
          </a:xfrm>
        </p:spPr>
        <p:txBody>
          <a:bodyPr vert="horz" lIns="91440" tIns="45720" rIns="91440" bIns="45720" rtlCol="0" anchor="t">
            <a:normAutofit/>
          </a:bodyPr>
          <a:lstStyle/>
          <a:p>
            <a:pPr marL="0" indent="0">
              <a:buNone/>
            </a:pPr>
            <a:endParaRPr lang="en-US" dirty="0"/>
          </a:p>
          <a:p>
            <a:pPr marL="0" indent="0">
              <a:buNone/>
            </a:pPr>
            <a:endParaRPr lang="en-US" dirty="0"/>
          </a:p>
          <a:p>
            <a:pPr marL="0" indent="0">
              <a:buNone/>
            </a:pPr>
            <a:endParaRPr lang="en-US" dirty="0">
              <a:latin typeface="IBM Plex Sans"/>
            </a:endParaRPr>
          </a:p>
        </p:txBody>
      </p:sp>
      <p:pic>
        <p:nvPicPr>
          <p:cNvPr id="5" name="Picture 4" descr="A screenshot of a computer&#10;&#10;AI-generated content may be incorrect.">
            <a:extLst>
              <a:ext uri="{FF2B5EF4-FFF2-40B4-BE49-F238E27FC236}">
                <a16:creationId xmlns:a16="http://schemas.microsoft.com/office/drawing/2014/main" id="{FE2482AA-E247-659E-8421-50D4E8EBB932}"/>
              </a:ext>
            </a:extLst>
          </p:cNvPr>
          <p:cNvPicPr>
            <a:picLocks noChangeAspect="1"/>
          </p:cNvPicPr>
          <p:nvPr/>
        </p:nvPicPr>
        <p:blipFill>
          <a:blip r:embed="rId3"/>
          <a:stretch>
            <a:fillRect/>
          </a:stretch>
        </p:blipFill>
        <p:spPr>
          <a:xfrm>
            <a:off x="933450" y="1697838"/>
            <a:ext cx="10420350" cy="4329099"/>
          </a:xfrm>
          <a:prstGeom prst="rect">
            <a:avLst/>
          </a:prstGeom>
        </p:spPr>
      </p:pic>
    </p:spTree>
    <p:custDataLst>
      <p:tags r:id="rId1"/>
    </p:custDataLst>
    <p:extLst>
      <p:ext uri="{BB962C8B-B14F-4D97-AF65-F5344CB8AC3E}">
        <p14:creationId xmlns:p14="http://schemas.microsoft.com/office/powerpoint/2010/main" val="2429736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838200" y="365125"/>
            <a:ext cx="10515600" cy="1325563"/>
          </a:xfrm>
        </p:spPr>
        <p:txBody>
          <a:bodyPr anchor="ctr">
            <a:normAutofit/>
          </a:bodyPr>
          <a:lstStyle/>
          <a:p>
            <a:r>
              <a:rPr lang="en-US" sz="3200">
                <a:latin typeface="IBM Plex Sans SemiBold"/>
              </a:rPr>
              <a:t>DASHBOARD TAB 2: FUTURE TECHNOLOGY TREND</a:t>
            </a:r>
            <a:endParaRPr lang="en-US" sz="3200" dirty="0"/>
          </a:p>
        </p:txBody>
      </p:sp>
      <p:sp>
        <p:nvSpPr>
          <p:cNvPr id="3" name="Content Placeholder 2">
            <a:extLst>
              <a:ext uri="{FF2B5EF4-FFF2-40B4-BE49-F238E27FC236}">
                <a16:creationId xmlns:a16="http://schemas.microsoft.com/office/drawing/2014/main" id="{73960BF9-AB8D-4916-3BC9-E2E92E0872BE}"/>
              </a:ext>
            </a:extLst>
          </p:cNvPr>
          <p:cNvSpPr>
            <a:spLocks noGrp="1"/>
          </p:cNvSpPr>
          <p:nvPr>
            <p:ph idx="1"/>
          </p:nvPr>
        </p:nvSpPr>
        <p:spPr>
          <a:xfrm>
            <a:off x="838200" y="1690688"/>
            <a:ext cx="10515600" cy="4351338"/>
          </a:xfrm>
        </p:spPr>
        <p:txBody>
          <a:bodyPr/>
          <a:lstStyle/>
          <a:p>
            <a:pPr marL="0" indent="0">
              <a:buNone/>
            </a:pPr>
            <a:endParaRPr lang="en-US" dirty="0"/>
          </a:p>
          <a:p>
            <a:pPr marL="0" indent="0">
              <a:buNone/>
            </a:pPr>
            <a:endParaRPr lang="en-US" dirty="0"/>
          </a:p>
          <a:p>
            <a:pPr marL="0" indent="0">
              <a:buNone/>
            </a:pPr>
            <a:r>
              <a:rPr lang="en-US" dirty="0"/>
              <a:t>Screenshot of dashboard tab 2 goes here</a:t>
            </a:r>
          </a:p>
        </p:txBody>
      </p:sp>
      <p:pic>
        <p:nvPicPr>
          <p:cNvPr id="4" name="Picture 3" descr="A screenshot of a computer&#10;&#10;AI-generated content may be incorrect.">
            <a:extLst>
              <a:ext uri="{FF2B5EF4-FFF2-40B4-BE49-F238E27FC236}">
                <a16:creationId xmlns:a16="http://schemas.microsoft.com/office/drawing/2014/main" id="{29A98032-96C4-8F2B-0731-E041F1BAA615}"/>
              </a:ext>
            </a:extLst>
          </p:cNvPr>
          <p:cNvPicPr>
            <a:picLocks noChangeAspect="1"/>
          </p:cNvPicPr>
          <p:nvPr/>
        </p:nvPicPr>
        <p:blipFill>
          <a:blip r:embed="rId3"/>
          <a:stretch>
            <a:fillRect/>
          </a:stretch>
        </p:blipFill>
        <p:spPr>
          <a:xfrm>
            <a:off x="840156" y="1695450"/>
            <a:ext cx="10511688" cy="4343400"/>
          </a:xfrm>
          <a:prstGeom prst="rect">
            <a:avLst/>
          </a:prstGeom>
        </p:spPr>
      </p:pic>
    </p:spTree>
    <p:custDataLst>
      <p:tags r:id="rId1"/>
    </p:custDataLst>
    <p:extLst>
      <p:ext uri="{BB962C8B-B14F-4D97-AF65-F5344CB8AC3E}">
        <p14:creationId xmlns:p14="http://schemas.microsoft.com/office/powerpoint/2010/main" val="2048496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a:xfrm>
            <a:off x="838200" y="365125"/>
            <a:ext cx="10515600" cy="1325563"/>
          </a:xfrm>
        </p:spPr>
        <p:txBody>
          <a:bodyPr anchor="ctr">
            <a:normAutofit/>
          </a:bodyPr>
          <a:lstStyle/>
          <a:p>
            <a:r>
              <a:rPr lang="en-US">
                <a:latin typeface="IBM Plex Sans SemiBold"/>
              </a:rPr>
              <a:t>DASHBOARD TAB 3: DEMOGRAPHICS</a:t>
            </a:r>
            <a:endParaRPr lang="en-US" dirty="0"/>
          </a:p>
        </p:txBody>
      </p:sp>
      <p:sp>
        <p:nvSpPr>
          <p:cNvPr id="3" name="Content Placeholder 2">
            <a:extLst>
              <a:ext uri="{FF2B5EF4-FFF2-40B4-BE49-F238E27FC236}">
                <a16:creationId xmlns:a16="http://schemas.microsoft.com/office/drawing/2014/main" id="{84961A98-8DF3-E66E-19C4-7D7642551E90}"/>
              </a:ext>
            </a:extLst>
          </p:cNvPr>
          <p:cNvSpPr>
            <a:spLocks noGrp="1"/>
          </p:cNvSpPr>
          <p:nvPr>
            <p:ph idx="1"/>
          </p:nvPr>
        </p:nvSpPr>
        <p:spPr>
          <a:xfrm>
            <a:off x="838200" y="1690688"/>
            <a:ext cx="10515600" cy="4351338"/>
          </a:xfrm>
        </p:spPr>
        <p:txBody>
          <a:bodyPr/>
          <a:lstStyle/>
          <a:p>
            <a:pPr marL="0" indent="0">
              <a:buNone/>
            </a:pPr>
            <a:endParaRPr lang="en-US" dirty="0"/>
          </a:p>
          <a:p>
            <a:pPr marL="0" indent="0">
              <a:buNone/>
            </a:pPr>
            <a:endParaRPr lang="en-US" dirty="0"/>
          </a:p>
          <a:p>
            <a:pPr marL="0" indent="0">
              <a:buNone/>
            </a:pPr>
            <a:r>
              <a:rPr lang="en-US" dirty="0"/>
              <a:t>Screenshot of dashboard tab 3 goes here</a:t>
            </a:r>
          </a:p>
        </p:txBody>
      </p:sp>
      <p:pic>
        <p:nvPicPr>
          <p:cNvPr id="4" name="Picture 3" descr="A screenshot of a computer&#10;&#10;AI-generated content may be incorrect.">
            <a:extLst>
              <a:ext uri="{FF2B5EF4-FFF2-40B4-BE49-F238E27FC236}">
                <a16:creationId xmlns:a16="http://schemas.microsoft.com/office/drawing/2014/main" id="{BB8EB142-B735-78F5-D587-B7CA1B452832}"/>
              </a:ext>
            </a:extLst>
          </p:cNvPr>
          <p:cNvPicPr>
            <a:picLocks noChangeAspect="1"/>
          </p:cNvPicPr>
          <p:nvPr/>
        </p:nvPicPr>
        <p:blipFill>
          <a:blip r:embed="rId3"/>
          <a:stretch>
            <a:fillRect/>
          </a:stretch>
        </p:blipFill>
        <p:spPr>
          <a:xfrm>
            <a:off x="840823" y="1695450"/>
            <a:ext cx="10405580" cy="4343400"/>
          </a:xfrm>
          <a:prstGeom prst="rect">
            <a:avLst/>
          </a:prstGeom>
        </p:spPr>
      </p:pic>
    </p:spTree>
    <p:custDataLst>
      <p:tags r:id="rId1"/>
    </p:custDataLst>
    <p:extLst>
      <p:ext uri="{BB962C8B-B14F-4D97-AF65-F5344CB8AC3E}">
        <p14:creationId xmlns:p14="http://schemas.microsoft.com/office/powerpoint/2010/main" val="2405636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ctrTitle"/>
          </p:nvPr>
        </p:nvSpPr>
        <p:spPr/>
        <p:txBody>
          <a:bodyPr anchor="ctr">
            <a:normAutofit/>
          </a:bodyPr>
          <a:lstStyle/>
          <a:p>
            <a:r>
              <a:rPr lang="en-US" dirty="0"/>
              <a:t>DISCUSSION</a:t>
            </a:r>
          </a:p>
        </p:txBody>
      </p:sp>
      <p:sp>
        <p:nvSpPr>
          <p:cNvPr id="4" name="Content Placeholder 3">
            <a:extLst>
              <a:ext uri="{FF2B5EF4-FFF2-40B4-BE49-F238E27FC236}">
                <a16:creationId xmlns:a16="http://schemas.microsoft.com/office/drawing/2014/main" id="{0F67EF50-003F-6BB0-4367-42BB884C77A4}"/>
              </a:ext>
            </a:extLst>
          </p:cNvPr>
          <p:cNvSpPr>
            <a:spLocks noGrp="1"/>
          </p:cNvSpPr>
          <p:nvPr>
            <p:ph type="subTitle" idx="1"/>
          </p:nvPr>
        </p:nvSpPr>
        <p:spPr/>
        <p:txBody>
          <a:bodyPr vert="horz" lIns="91440" tIns="45720" rIns="91440" bIns="45720" rtlCol="0" anchor="t">
            <a:normAutofit/>
          </a:bodyPr>
          <a:lstStyle/>
          <a:p>
            <a:pPr marL="342900" indent="-342900">
              <a:buChar char="•"/>
            </a:pPr>
            <a:r>
              <a:rPr lang="en-US">
                <a:latin typeface="IBM Plex Sans"/>
              </a:rPr>
              <a:t>FINDINGS AND IMPLICATIONS</a:t>
            </a:r>
            <a:endParaRPr lang="en-US" dirty="0"/>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a:xfrm>
            <a:off x="838200" y="365125"/>
            <a:ext cx="10515600" cy="1325563"/>
          </a:xfrm>
        </p:spPr>
        <p:txBody>
          <a:bodyPr/>
          <a:lstStyle/>
          <a:p>
            <a:r>
              <a:rPr lang="en-US" dirty="0"/>
              <a:t>OVERALL FINDINGS &amp; IMPLICATIONS</a:t>
            </a:r>
          </a:p>
        </p:txBody>
      </p:sp>
      <p:sp>
        <p:nvSpPr>
          <p:cNvPr id="3" name="Content Placeholder 2">
            <a:extLst>
              <a:ext uri="{FF2B5EF4-FFF2-40B4-BE49-F238E27FC236}">
                <a16:creationId xmlns:a16="http://schemas.microsoft.com/office/drawing/2014/main" id="{D196B89C-35B9-C514-4E9C-FCBE8D68D3FD}"/>
              </a:ext>
            </a:extLst>
          </p:cNvPr>
          <p:cNvSpPr>
            <a:spLocks noGrp="1"/>
          </p:cNvSpPr>
          <p:nvPr>
            <p:ph sz="half" idx="1"/>
          </p:nvPr>
        </p:nvSpPr>
        <p:spPr>
          <a:xfrm>
            <a:off x="813816" y="1825625"/>
            <a:ext cx="5181600" cy="4351338"/>
          </a:xfrm>
        </p:spPr>
        <p:txBody>
          <a:bodyPr vert="horz" lIns="91440" tIns="45720" rIns="91440" bIns="45720" rtlCol="0" anchor="t">
            <a:normAutofit lnSpcReduction="10000"/>
          </a:bodyPr>
          <a:lstStyle/>
          <a:p>
            <a:pPr marL="0" indent="0">
              <a:buNone/>
            </a:pPr>
            <a:r>
              <a:rPr lang="en-US" dirty="0"/>
              <a:t>Findings</a:t>
            </a:r>
          </a:p>
          <a:p>
            <a:endParaRPr lang="en-US" dirty="0"/>
          </a:p>
          <a:p>
            <a:r>
              <a:rPr lang="en-US" sz="2500" dirty="0">
                <a:solidFill>
                  <a:srgbClr val="393939"/>
                </a:solidFill>
                <a:highlight>
                  <a:srgbClr val="F4F4F4"/>
                </a:highlight>
                <a:latin typeface="IBM Plex Sans"/>
              </a:rPr>
              <a:t>The tools used by developers show overall </a:t>
            </a:r>
            <a:r>
              <a:rPr lang="en-US" sz="2500">
                <a:solidFill>
                  <a:srgbClr val="393939"/>
                </a:solidFill>
                <a:highlight>
                  <a:srgbClr val="F4F4F4"/>
                </a:highlight>
                <a:latin typeface="IBM Plex Sans"/>
              </a:rPr>
              <a:t>consistency in popularity.</a:t>
            </a:r>
            <a:endParaRPr lang="en-US" sz="2500" dirty="0"/>
          </a:p>
          <a:p>
            <a:r>
              <a:rPr lang="en-US" sz="2500" dirty="0">
                <a:solidFill>
                  <a:srgbClr val="393939"/>
                </a:solidFill>
                <a:highlight>
                  <a:srgbClr val="F4F4F4"/>
                </a:highlight>
                <a:latin typeface="IBM Plex Sans"/>
              </a:rPr>
              <a:t>However, some technologies are </a:t>
            </a:r>
            <a:r>
              <a:rPr lang="en-US" sz="2500" err="1">
                <a:solidFill>
                  <a:srgbClr val="393939"/>
                </a:solidFill>
                <a:highlight>
                  <a:srgbClr val="F4F4F4"/>
                </a:highlight>
                <a:latin typeface="IBM Plex Sans"/>
              </a:rPr>
              <a:t>gaini</a:t>
            </a:r>
            <a:r>
              <a:rPr lang="en-US" sz="2500" dirty="0">
                <a:solidFill>
                  <a:srgbClr val="393939"/>
                </a:solidFill>
                <a:highlight>
                  <a:srgbClr val="F4F4F4"/>
                </a:highlight>
                <a:latin typeface="IBM Plex Sans"/>
              </a:rPr>
              <a:t>ng groun</a:t>
            </a:r>
            <a:r>
              <a:rPr lang="en-US" sz="2500">
                <a:solidFill>
                  <a:srgbClr val="393939"/>
                </a:solidFill>
                <a:highlight>
                  <a:srgbClr val="F4F4F4"/>
                </a:highlight>
                <a:latin typeface="IBM Plex Sans"/>
              </a:rPr>
              <a:t>d.</a:t>
            </a:r>
            <a:endParaRPr lang="en-US" sz="2500" dirty="0">
              <a:solidFill>
                <a:srgbClr val="393939"/>
              </a:solidFill>
              <a:highlight>
                <a:srgbClr val="F4F4F4"/>
              </a:highlight>
            </a:endParaRPr>
          </a:p>
          <a:p>
            <a:r>
              <a:rPr lang="en-US" sz="2500" dirty="0">
                <a:solidFill>
                  <a:srgbClr val="393939"/>
                </a:solidFill>
                <a:highlight>
                  <a:srgbClr val="F4F4F4"/>
                </a:highlight>
                <a:latin typeface="IBM Plex Sans"/>
              </a:rPr>
              <a:t>Most </a:t>
            </a:r>
            <a:r>
              <a:rPr lang="en-US" sz="2500" dirty="0" err="1">
                <a:solidFill>
                  <a:srgbClr val="393939"/>
                </a:solidFill>
                <a:highlight>
                  <a:srgbClr val="F4F4F4"/>
                </a:highlight>
                <a:latin typeface="IBM Plex Sans"/>
              </a:rPr>
              <a:t>respo</a:t>
            </a:r>
            <a:r>
              <a:rPr lang="en-US" sz="2500" dirty="0">
                <a:solidFill>
                  <a:srgbClr val="393939"/>
                </a:solidFill>
                <a:highlight>
                  <a:srgbClr val="F4F4F4"/>
                </a:highlight>
                <a:latin typeface="IBM Plex Sans"/>
              </a:rPr>
              <a:t>ndents reside in the United States of America, are aged </a:t>
            </a:r>
            <a:r>
              <a:rPr lang="en-US" sz="2500" dirty="0" err="1">
                <a:solidFill>
                  <a:srgbClr val="393939"/>
                </a:solidFill>
                <a:highlight>
                  <a:srgbClr val="F4F4F4"/>
                </a:highlight>
                <a:latin typeface="IBM Plex Sans"/>
              </a:rPr>
              <a:t>betwee</a:t>
            </a:r>
            <a:r>
              <a:rPr lang="en-US" sz="2500" dirty="0">
                <a:solidFill>
                  <a:srgbClr val="393939"/>
                </a:solidFill>
                <a:highlight>
                  <a:srgbClr val="F4F4F4"/>
                </a:highlight>
                <a:latin typeface="IBM Plex Sans"/>
              </a:rPr>
              <a:t>n 25 and 44 years and have either a Bachelor's or a Master's degree.</a:t>
            </a:r>
            <a:endParaRPr lang="en-US" sz="2500" dirty="0">
              <a:solidFill>
                <a:srgbClr val="393939"/>
              </a:solidFill>
              <a:highlight>
                <a:srgbClr val="F4F4F4"/>
              </a:highlight>
            </a:endParaRPr>
          </a:p>
          <a:p>
            <a:endParaRPr lang="en-US" dirty="0"/>
          </a:p>
        </p:txBody>
      </p:sp>
      <p:sp>
        <p:nvSpPr>
          <p:cNvPr id="4" name="Content Placeholder 3">
            <a:extLst>
              <a:ext uri="{FF2B5EF4-FFF2-40B4-BE49-F238E27FC236}">
                <a16:creationId xmlns:a16="http://schemas.microsoft.com/office/drawing/2014/main" id="{2FDBBA5A-826D-FFFD-F1BE-92269842D330}"/>
              </a:ext>
            </a:extLst>
          </p:cNvPr>
          <p:cNvSpPr>
            <a:spLocks noGrp="1"/>
          </p:cNvSpPr>
          <p:nvPr>
            <p:ph sz="half" idx="2"/>
          </p:nvPr>
        </p:nvSpPr>
        <p:spPr>
          <a:xfrm>
            <a:off x="6172200" y="1825625"/>
            <a:ext cx="5181600" cy="4351338"/>
          </a:xfrm>
        </p:spPr>
        <p:txBody>
          <a:bodyPr vert="horz" lIns="91440" tIns="45720" rIns="91440" bIns="45720" rtlCol="0" anchor="t">
            <a:normAutofit lnSpcReduction="10000"/>
          </a:bodyPr>
          <a:lstStyle/>
          <a:p>
            <a:pPr marL="0" indent="0">
              <a:buNone/>
            </a:pPr>
            <a:r>
              <a:rPr lang="en-US" dirty="0"/>
              <a:t>Implications</a:t>
            </a:r>
          </a:p>
          <a:p>
            <a:pPr marL="0" indent="0">
              <a:buNone/>
            </a:pPr>
            <a:endParaRPr lang="en-US" dirty="0"/>
          </a:p>
          <a:p>
            <a:r>
              <a:rPr lang="en-US" sz="2400" dirty="0">
                <a:latin typeface="IBM Plex Sans"/>
              </a:rPr>
              <a:t>The current popular technology tools used by developers will </a:t>
            </a:r>
            <a:r>
              <a:rPr lang="en-US" sz="2400" dirty="0" err="1">
                <a:latin typeface="IBM Plex Sans"/>
              </a:rPr>
              <a:t>cont</a:t>
            </a:r>
            <a:r>
              <a:rPr lang="en-US" sz="2400" dirty="0">
                <a:latin typeface="IBM Plex Sans"/>
              </a:rPr>
              <a:t>inue to </a:t>
            </a:r>
            <a:r>
              <a:rPr lang="en-US" sz="2400" dirty="0" err="1">
                <a:latin typeface="IBM Plex Sans"/>
              </a:rPr>
              <a:t>domin</a:t>
            </a:r>
            <a:r>
              <a:rPr lang="en-US" sz="2400" dirty="0">
                <a:latin typeface="IBM Plex Sans"/>
              </a:rPr>
              <a:t>ate in the </a:t>
            </a:r>
            <a:r>
              <a:rPr lang="en-US" sz="2400" dirty="0" err="1">
                <a:latin typeface="IBM Plex Sans"/>
              </a:rPr>
              <a:t>sh</a:t>
            </a:r>
            <a:r>
              <a:rPr lang="en-US" sz="2400" dirty="0">
                <a:latin typeface="IBM Plex Sans"/>
              </a:rPr>
              <a:t>ort </a:t>
            </a:r>
            <a:r>
              <a:rPr lang="en-US" sz="2400" dirty="0" err="1">
                <a:latin typeface="IBM Plex Sans"/>
              </a:rPr>
              <a:t>tem</a:t>
            </a:r>
            <a:r>
              <a:rPr lang="en-US" sz="2400" dirty="0">
                <a:latin typeface="IBM Plex Sans"/>
              </a:rPr>
              <a:t>.</a:t>
            </a:r>
            <a:endParaRPr lang="en-US" dirty="0"/>
          </a:p>
          <a:p>
            <a:r>
              <a:rPr lang="en-US" sz="2400" dirty="0">
                <a:latin typeface="IBM Plex Sans"/>
              </a:rPr>
              <a:t>However , </a:t>
            </a:r>
            <a:r>
              <a:rPr lang="en-US" sz="2400" err="1">
                <a:latin typeface="IBM Plex Sans"/>
              </a:rPr>
              <a:t>i</a:t>
            </a:r>
            <a:r>
              <a:rPr lang="en-US" sz="2400">
                <a:latin typeface="IBM Plex Sans"/>
              </a:rPr>
              <a:t>n the long term, they may be </a:t>
            </a:r>
            <a:r>
              <a:rPr lang="en-US" sz="2400" err="1">
                <a:latin typeface="IBM Plex Sans"/>
              </a:rPr>
              <a:t>overtak</a:t>
            </a:r>
            <a:r>
              <a:rPr lang="en-US" sz="2400">
                <a:latin typeface="IBM Plex Sans"/>
              </a:rPr>
              <a:t>en.</a:t>
            </a:r>
            <a:endParaRPr lang="en-US" sz="2400"/>
          </a:p>
          <a:p>
            <a:r>
              <a:rPr lang="en-US" sz="2400" dirty="0">
                <a:latin typeface="IBM Plex Sans"/>
              </a:rPr>
              <a:t>Development requires an active mind, a good education and a conducive environment.</a:t>
            </a:r>
            <a:endParaRPr lang="en-US" sz="2400" dirty="0"/>
          </a:p>
          <a:p>
            <a:endParaRPr lang="en-US" dirty="0"/>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a:xfrm>
            <a:off x="838200" y="365125"/>
            <a:ext cx="10515600" cy="1325563"/>
          </a:xfrm>
        </p:spPr>
        <p:txBody>
          <a:bodyPr anchor="ctr">
            <a:normAutofit/>
          </a:bodyPr>
          <a:lstStyle/>
          <a:p>
            <a:r>
              <a:rPr lang="en-US" dirty="0"/>
              <a:t>CONCLUSION</a:t>
            </a:r>
          </a:p>
        </p:txBody>
      </p:sp>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4544291" y="1825625"/>
            <a:ext cx="6809509"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400" dirty="0">
                <a:latin typeface="IBM Plex Sans"/>
              </a:rPr>
              <a:t>Development requires an active mind, a good education and a conducive environment.</a:t>
            </a:r>
            <a:endParaRPr lang="en-US" dirty="0"/>
          </a:p>
          <a:p>
            <a:r>
              <a:rPr lang="en-US" sz="2400" dirty="0">
                <a:latin typeface="IBM Plex Sans"/>
              </a:rPr>
              <a:t>The current popular technology tools used by developers will continue to dominate in the short </a:t>
            </a:r>
            <a:r>
              <a:rPr lang="en-US" sz="2400">
                <a:latin typeface="IBM Plex Sans"/>
              </a:rPr>
              <a:t>term</a:t>
            </a:r>
            <a:r>
              <a:rPr lang="en-US" sz="2400" dirty="0">
                <a:latin typeface="IBM Plex Sans"/>
              </a:rPr>
              <a:t>.</a:t>
            </a:r>
            <a:endParaRPr lang="en-US" sz="2400" dirty="0"/>
          </a:p>
          <a:p>
            <a:r>
              <a:rPr lang="en-US" sz="2400">
                <a:latin typeface="IBM Plex Sans"/>
              </a:rPr>
              <a:t>However , in the long term, they may be overtaken.</a:t>
            </a:r>
            <a:endParaRPr lang="en-US" sz="2400"/>
          </a:p>
          <a:p>
            <a:endParaRPr lang="en-US" dirty="0"/>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Tree>
    <p:custDataLst>
      <p:tags r:id="rId1"/>
    </p:custDataLst>
    <p:extLst>
      <p:ext uri="{BB962C8B-B14F-4D97-AF65-F5344CB8AC3E}">
        <p14:creationId xmlns:p14="http://schemas.microsoft.com/office/powerpoint/2010/main" val="840378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a:xfrm>
            <a:off x="838200" y="365125"/>
            <a:ext cx="10515600" cy="1325563"/>
          </a:xfrm>
        </p:spPr>
        <p:txBody>
          <a:bodyPr anchor="ctr">
            <a:normAutofit/>
          </a:bodyPr>
          <a:lstStyle/>
          <a:p>
            <a:r>
              <a:rPr lang="en-US" dirty="0"/>
              <a:t>APPENDIX</a:t>
            </a:r>
          </a:p>
        </p:txBody>
      </p:sp>
      <p:pic>
        <p:nvPicPr>
          <p:cNvPr id="11" name="Content Placeholder 3">
            <a:extLst>
              <a:ext uri="{FF2B5EF4-FFF2-40B4-BE49-F238E27FC236}">
                <a16:creationId xmlns:a16="http://schemas.microsoft.com/office/drawing/2014/main" id="{E8E550E5-7A15-A106-D083-8C1433A790A1}"/>
              </a:ext>
            </a:extLst>
          </p:cNvPr>
          <p:cNvPicPr>
            <a:picLocks noGrp="1" noChangeAspect="1"/>
          </p:cNvPicPr>
          <p:nvPr>
            <p:ph sz="half" idx="1"/>
          </p:nvPr>
        </p:nvPicPr>
        <p:blipFill>
          <a:blip r:embed="rId3"/>
          <a:stretch>
            <a:fillRect/>
          </a:stretch>
        </p:blipFill>
        <p:spPr>
          <a:xfrm>
            <a:off x="1055857" y="1849823"/>
            <a:ext cx="3194581" cy="3194581"/>
          </a:xfrm>
          <a:prstGeom prst="rect">
            <a:avLst/>
          </a:prstGeom>
        </p:spPr>
      </p:pic>
    </p:spTree>
    <p:custDataLst>
      <p:tags r:id="rId1"/>
    </p:custDataLst>
    <p:extLst>
      <p:ext uri="{BB962C8B-B14F-4D97-AF65-F5344CB8AC3E}">
        <p14:creationId xmlns:p14="http://schemas.microsoft.com/office/powerpoint/2010/main" val="1860158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538248" y="383051"/>
            <a:ext cx="5929053" cy="1325563"/>
          </a:xfrm>
        </p:spPr>
        <p:txBody>
          <a:bodyPr anchor="ctr">
            <a:normAutofit/>
          </a:bodyPr>
          <a:lstStyle/>
          <a:p>
            <a:r>
              <a:rPr lang="en-US" dirty="0"/>
              <a:t> JOB POSTINGS</a:t>
            </a:r>
          </a:p>
        </p:txBody>
      </p:sp>
      <p:graphicFrame>
        <p:nvGraphicFramePr>
          <p:cNvPr id="4" name="Chart 3">
            <a:extLst>
              <a:ext uri="{FF2B5EF4-FFF2-40B4-BE49-F238E27FC236}">
                <a16:creationId xmlns:a16="http://schemas.microsoft.com/office/drawing/2014/main" id="{AEE9CE7C-E0CA-0C9D-D9A1-291E388CB438}"/>
              </a:ext>
            </a:extLst>
          </p:cNvPr>
          <p:cNvGraphicFramePr>
            <a:graphicFrameLocks/>
          </p:cNvGraphicFramePr>
          <p:nvPr>
            <p:extLst>
              <p:ext uri="{D42A27DB-BD31-4B8C-83A1-F6EECF244321}">
                <p14:modId xmlns:p14="http://schemas.microsoft.com/office/powerpoint/2010/main" val="2366515785"/>
              </p:ext>
            </p:extLst>
          </p:nvPr>
        </p:nvGraphicFramePr>
        <p:xfrm>
          <a:off x="2886075" y="1590675"/>
          <a:ext cx="7153275" cy="4191000"/>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extLst>
      <p:ext uri="{BB962C8B-B14F-4D97-AF65-F5344CB8AC3E}">
        <p14:creationId xmlns:p14="http://schemas.microsoft.com/office/powerpoint/2010/main" val="1935373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538248" y="383051"/>
            <a:ext cx="5929053" cy="1325563"/>
          </a:xfrm>
        </p:spPr>
        <p:txBody>
          <a:bodyPr anchor="ctr">
            <a:normAutofit/>
          </a:bodyPr>
          <a:lstStyle/>
          <a:p>
            <a:r>
              <a:rPr lang="en-US" dirty="0"/>
              <a:t>POPULAR LANGUAGES</a:t>
            </a:r>
          </a:p>
        </p:txBody>
      </p:sp>
      <p:graphicFrame>
        <p:nvGraphicFramePr>
          <p:cNvPr id="2" name="Chart 1">
            <a:extLst>
              <a:ext uri="{FF2B5EF4-FFF2-40B4-BE49-F238E27FC236}">
                <a16:creationId xmlns:a16="http://schemas.microsoft.com/office/drawing/2014/main" id="{CA5C2EAE-5CA4-004F-5B39-22877CA4DC0F}"/>
              </a:ext>
            </a:extLst>
          </p:cNvPr>
          <p:cNvGraphicFramePr>
            <a:graphicFrameLocks/>
          </p:cNvGraphicFramePr>
          <p:nvPr>
            <p:extLst>
              <p:ext uri="{D42A27DB-BD31-4B8C-83A1-F6EECF244321}">
                <p14:modId xmlns:p14="http://schemas.microsoft.com/office/powerpoint/2010/main" val="3457127169"/>
              </p:ext>
            </p:extLst>
          </p:nvPr>
        </p:nvGraphicFramePr>
        <p:xfrm>
          <a:off x="2743200" y="1704975"/>
          <a:ext cx="6696075" cy="4114800"/>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extLst>
      <p:ext uri="{BB962C8B-B14F-4D97-AF65-F5344CB8AC3E}">
        <p14:creationId xmlns:p14="http://schemas.microsoft.com/office/powerpoint/2010/main" val="19459025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C6C6C6"/>
      </a:dk1>
      <a:lt1>
        <a:sysClr val="window" lastClr="000000"/>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Props1.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IBM PPT Temp Jan 2023</Template>
  <TotalTime>7</TotalTime>
  <Words>693</Words>
  <Application>Microsoft Office PowerPoint</Application>
  <PresentationFormat>Widescreen</PresentationFormat>
  <Paragraphs>98</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Calibri</vt:lpstr>
      <vt:lpstr>Consolas</vt:lpstr>
      <vt:lpstr>Helv</vt:lpstr>
      <vt:lpstr>IBM Plex Mono</vt:lpstr>
      <vt:lpstr>IBM Plex Mono Text</vt:lpstr>
      <vt:lpstr>IBM Plex Sans</vt:lpstr>
      <vt:lpstr>IBM Plex Sans SemiBold</vt:lpstr>
      <vt:lpstr>SLIDE_TEMPLATE_skill_network</vt:lpstr>
      <vt:lpstr>Survey Insights: The Tools Driving Today’s Developers</vt:lpstr>
      <vt:lpstr>PowerPoint Presentation</vt:lpstr>
      <vt:lpstr>EXECUTIVE SUMMARY</vt:lpstr>
      <vt:lpstr>INTRODUCTION</vt:lpstr>
      <vt:lpstr>METHODOLOGY</vt:lpstr>
      <vt:lpstr>RESULTS</vt:lpstr>
      <vt:lpstr>PROGRAMMING LANGUAGE TRENDS</vt:lpstr>
      <vt:lpstr>PROGRAMMING LANGUAGE TRENDS - FINDINGS &amp; IMPLICATIONS</vt:lpstr>
      <vt:lpstr>DATABASE TRENDS</vt:lpstr>
      <vt:lpstr>DATABASE TRENDS - FINDINGS &amp; IMPLICATIONS</vt:lpstr>
      <vt:lpstr>DASHBOARD</vt:lpstr>
      <vt:lpstr>DASHBOARD TAB 1: CURRENT TECHNOLOGY USAGE</vt:lpstr>
      <vt:lpstr>DASHBOARD TAB 2: FUTURE TECHNOLOGY TREND</vt:lpstr>
      <vt:lpstr>DASHBOARD TAB 3: DEMOGRAPHICS</vt:lpstr>
      <vt:lpstr>DISCUSSION</vt:lpstr>
      <vt:lpstr>OVERALL FINDINGS &amp; IMPLICATIONS</vt:lpstr>
      <vt:lpstr>CONCLUSION</vt:lpstr>
      <vt:lpstr>APPENDIX</vt:lpstr>
      <vt:lpstr> JOB POSTINGS</vt:lpstr>
      <vt:lpstr>POPULAR LANGUAGES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JONGOMEDZI</cp:lastModifiedBy>
  <cp:revision>879</cp:revision>
  <dcterms:created xsi:type="dcterms:W3CDTF">2024-10-30T05:40:03Z</dcterms:created>
  <dcterms:modified xsi:type="dcterms:W3CDTF">2026-07-04T09:40:21Z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